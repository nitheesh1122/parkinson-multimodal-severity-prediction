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93" r:id="rId4"/>
    <p:sldId id="258" r:id="rId5"/>
    <p:sldId id="296" r:id="rId6"/>
    <p:sldId id="299" r:id="rId7"/>
    <p:sldId id="298" r:id="rId8"/>
    <p:sldId id="289" r:id="rId9"/>
  </p:sldIdLst>
  <p:sldSz cx="9144000" cy="6858000" type="screen4x3"/>
  <p:notesSz cx="6881813" cy="100155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00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82913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1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27-Jun-21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1:notes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1-59</a:t>
            </a: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27-Jun-21</a:t>
            </a: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61836D9A-5009-EF1E-8739-99661609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D613224-D475-50F9-A438-E6D5A7F952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C664165E-4047-1EA8-29D3-03583DCC7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4803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92B0D25-6866-5D3E-A883-EC4A72DF1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CD2C09D6-7234-1744-14A5-2886619E0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2C97229A-EB63-2A0D-E481-15728171B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641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D02339E-381D-712A-ACCD-BA085DFD9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3478C83-9644-DAE8-C625-5701D6967D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6DE9D977-95B2-67E9-C1DC-4A34765BF2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0649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990"/>
              </a:buClr>
              <a:buSzPts val="5600"/>
              <a:buFont typeface="Arial"/>
              <a:buNone/>
              <a:defRPr sz="5600" b="1">
                <a:solidFill>
                  <a:srgbClr val="B3B99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F6C"/>
              </a:buClr>
              <a:buSzPts val="5600"/>
              <a:buFont typeface="Arial"/>
              <a:buNone/>
              <a:defRPr sz="5600" b="1" cap="none">
                <a:solidFill>
                  <a:srgbClr val="E8BF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AC5A27">
                  <a:alpha val="44313"/>
                </a:srgbClr>
              </a:gs>
              <a:gs pos="100000">
                <a:srgbClr val="9CA469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B8059">
                  <a:alpha val="29411"/>
                </a:srgbClr>
              </a:gs>
              <a:gs pos="80000">
                <a:srgbClr val="DB6923">
                  <a:alpha val="44313"/>
                </a:srgbClr>
              </a:gs>
              <a:gs pos="100000">
                <a:srgbClr val="DB6923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 rot="5400000">
            <a:off x="2377281" y="15081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0291" y="673990"/>
            <a:ext cx="1436263" cy="179631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321808" y="4916519"/>
            <a:ext cx="3124608" cy="963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NITHEESH.S – 23CSR149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REDHANI.T.V – 23CSR174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SABARISH.K.S – 23CSR184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3" descr="G:\TBI\TBI@KEC Logos\K Transform\6-5x4 product centr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16949" y="644165"/>
            <a:ext cx="1447800" cy="104829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884716" y="1779272"/>
            <a:ext cx="512899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22CSP62 – PROJECT WORK 1</a:t>
            </a: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777652" y="4177860"/>
            <a:ext cx="27243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566554" y="2664005"/>
            <a:ext cx="610104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PARKINSON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 DISEASE SEVERITY PREDICTION</a:t>
            </a:r>
            <a:endParaRPr sz="2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2139809" y="792516"/>
            <a:ext cx="6101040" cy="10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 ENGINEERING COLLEGE</a:t>
            </a:r>
            <a:r>
              <a:rPr lang="en-US" sz="2400" b="1" i="0" u="none" strike="noStrike" cap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B45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 ERODE-638060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3" name="Google Shape;89;p13">
            <a:extLst>
              <a:ext uri="{FF2B5EF4-FFF2-40B4-BE49-F238E27FC236}">
                <a16:creationId xmlns:a16="http://schemas.microsoft.com/office/drawing/2014/main" id="{B8068B61-3E31-CCA9-2064-658354FEB04B}"/>
              </a:ext>
            </a:extLst>
          </p:cNvPr>
          <p:cNvSpPr txBox="1"/>
          <p:nvPr/>
        </p:nvSpPr>
        <p:spPr>
          <a:xfrm>
            <a:off x="2884716" y="3643312"/>
            <a:ext cx="5561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DATE : 24.06.2026</a:t>
            </a:r>
            <a:endParaRPr sz="2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35404-B3DC-FB61-AAF9-0566B47FC42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8746312" y="6477000"/>
            <a:ext cx="1447800" cy="381000"/>
          </a:xfrm>
        </p:spPr>
        <p:txBody>
          <a:bodyPr/>
          <a:lstStyle/>
          <a:p>
            <a:r>
              <a:rPr lang="en-US" dirty="0"/>
              <a:t>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1950098" y="377562"/>
            <a:ext cx="524380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dirty="0">
              <a:solidFill>
                <a:srgbClr val="345D7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1024201" y="1842665"/>
            <a:ext cx="7741847" cy="3892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lvl="1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dirty="0"/>
              <a:t>Parkinson's Disease is a progressive neurological disorder.</a:t>
            </a:r>
          </a:p>
          <a:p>
            <a:pPr marL="800100" lvl="1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dirty="0"/>
              <a:t> Early identification of disease severity is crucial for treatment planning. </a:t>
            </a:r>
          </a:p>
          <a:p>
            <a:pPr marL="800100" lvl="1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dirty="0"/>
              <a:t>Most existing models rely on a single data modality. </a:t>
            </a:r>
          </a:p>
          <a:p>
            <a:pPr marL="800100" lvl="1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dirty="0"/>
              <a:t>A multimodal approach can improve severity prediction accuracy.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3F884F-7073-D1ED-6A6F-92043B0F1D0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8766048" y="6477000"/>
            <a:ext cx="1447800" cy="381000"/>
          </a:xfrm>
        </p:spPr>
        <p:txBody>
          <a:bodyPr/>
          <a:lstStyle/>
          <a:p>
            <a:r>
              <a:rPr lang="en-US" dirty="0"/>
              <a:t>2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526A-6227-AE4F-D038-E8F0E7DE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2920"/>
            <a:ext cx="7315200" cy="11430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SIGINIFICANCE AND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BA468-1BF3-265C-BF58-97F2652E2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3050" y="1816955"/>
            <a:ext cx="7180118" cy="354142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dirty="0"/>
              <a:t>Enables early severity assessment. </a:t>
            </a:r>
          </a:p>
          <a:p>
            <a:pPr>
              <a:lnSpc>
                <a:spcPct val="200000"/>
              </a:lnSpc>
            </a:pPr>
            <a:r>
              <a:rPr lang="en-IN" dirty="0"/>
              <a:t>Supports better treatment planning. </a:t>
            </a:r>
          </a:p>
          <a:p>
            <a:pPr>
              <a:lnSpc>
                <a:spcPct val="200000"/>
              </a:lnSpc>
            </a:pPr>
            <a:r>
              <a:rPr lang="en-IN" dirty="0"/>
              <a:t>Reduces dependence on frequent clinical visits. </a:t>
            </a:r>
          </a:p>
          <a:p>
            <a:pPr>
              <a:lnSpc>
                <a:spcPct val="200000"/>
              </a:lnSpc>
            </a:pPr>
            <a:r>
              <a:rPr lang="en-IN" dirty="0"/>
              <a:t>Assists doctors in monitoring disease progression. </a:t>
            </a:r>
          </a:p>
          <a:p>
            <a:pPr>
              <a:lnSpc>
                <a:spcPct val="200000"/>
              </a:lnSpc>
            </a:pPr>
            <a:r>
              <a:rPr lang="en-IN" dirty="0"/>
              <a:t>Improves patient quality of life.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A828D-F2CB-4349-C765-F5D23B663AC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8784336" y="6477000"/>
            <a:ext cx="1447800" cy="381000"/>
          </a:xfrm>
        </p:spPr>
        <p:txBody>
          <a:bodyPr/>
          <a:lstStyle/>
          <a:p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39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1709928" y="793595"/>
            <a:ext cx="5724143" cy="771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1235027" y="1740816"/>
            <a:ext cx="7531021" cy="3983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Combine speech and handwriting biomarkers. </a:t>
            </a:r>
          </a:p>
          <a:p>
            <a:pPr marL="5143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Extract speech features using </a:t>
            </a:r>
            <a:r>
              <a:rPr lang="en-IN" dirty="0" err="1"/>
              <a:t>OpenSMILE</a:t>
            </a:r>
            <a:r>
              <a:rPr lang="en-IN" dirty="0"/>
              <a:t>. </a:t>
            </a:r>
          </a:p>
          <a:p>
            <a:pPr marL="5143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Extract handwriting features using CNN. </a:t>
            </a:r>
          </a:p>
          <a:p>
            <a:pPr marL="5143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Fuse multimodal features for improved prediction.</a:t>
            </a:r>
          </a:p>
          <a:p>
            <a:pPr marL="5143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 Classify severity as Mild, Moderate, or Severe. </a:t>
            </a:r>
          </a:p>
          <a:p>
            <a:pPr marL="5143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Provide explainable predictions using SHAP.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B83737A-0599-FB3B-1159-7D0A1068B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AE4023-259E-49D0-55B7-E6DF2CEFF30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8766048" y="6458712"/>
            <a:ext cx="1447800" cy="381000"/>
          </a:xfrm>
        </p:spPr>
        <p:txBody>
          <a:bodyPr/>
          <a:lstStyle/>
          <a:p>
            <a:r>
              <a:rPr lang="en-US" dirty="0"/>
              <a:t>4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7DAF0089-8964-E114-680E-2DD83D051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34F64FAA-3AF4-514A-70C8-FCB166AE3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66090" y="1804824"/>
            <a:ext cx="7531021" cy="385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8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IN" sz="2000" dirty="0"/>
              <a:t>Public datasets are available. </a:t>
            </a:r>
          </a:p>
          <a:p>
            <a:pPr marL="285750" lvl="8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IN" sz="2000" dirty="0" err="1"/>
              <a:t>OpenSMILE</a:t>
            </a:r>
            <a:r>
              <a:rPr lang="en-IN" sz="2000" dirty="0"/>
              <a:t> supports speech feature extraction. </a:t>
            </a:r>
          </a:p>
          <a:p>
            <a:pPr marL="285750" lvl="8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IN" sz="2000" dirty="0"/>
              <a:t>CNNs are effective for handwriting analysis.</a:t>
            </a:r>
          </a:p>
          <a:p>
            <a:pPr marL="285750" lvl="8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dirty="0" err="1"/>
              <a:t>XGBoost</a:t>
            </a:r>
            <a:r>
              <a:rPr lang="en-IN" sz="2000" dirty="0"/>
              <a:t> offers high classification performance.</a:t>
            </a:r>
          </a:p>
          <a:p>
            <a:pPr marL="285750" lvl="8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IN" sz="2000" dirty="0"/>
              <a:t> SHAP provides model interpretability. </a:t>
            </a:r>
          </a:p>
          <a:p>
            <a:pPr marL="285750" lvl="8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IN" sz="2000" dirty="0"/>
              <a:t>Implementation is feasible using Python and ML frameworks.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28BFF087-5AF7-4250-BBBE-EF7357905C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816" y="308524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CCE7E04-9FCE-83EA-1421-F50779CAB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843E0C-C192-5C7F-7194-E9BD7677B94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8766048" y="6458712"/>
            <a:ext cx="1447800" cy="381000"/>
          </a:xfrm>
        </p:spPr>
        <p:txBody>
          <a:bodyPr/>
          <a:lstStyle/>
          <a:p>
            <a:r>
              <a:rPr lang="en-US" dirty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416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BEF8816-F568-9154-D34C-5CCD6F0D7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F5335F-9C5A-65E6-25D5-5162D50BB5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8742560" y="6486144"/>
            <a:ext cx="1447800" cy="381000"/>
          </a:xfrm>
        </p:spPr>
        <p:txBody>
          <a:bodyPr/>
          <a:lstStyle/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CF6103-854B-59FB-1109-93CC6AF9F7EF}"/>
              </a:ext>
            </a:extLst>
          </p:cNvPr>
          <p:cNvSpPr/>
          <p:nvPr/>
        </p:nvSpPr>
        <p:spPr>
          <a:xfrm>
            <a:off x="685800" y="1865376"/>
            <a:ext cx="1828800" cy="941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Collection: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Speech, Handwriting, Age, Gender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E505AB-AD55-5345-9E5A-2CE9CBA639D5}"/>
              </a:ext>
            </a:extLst>
          </p:cNvPr>
          <p:cNvSpPr/>
          <p:nvPr/>
        </p:nvSpPr>
        <p:spPr>
          <a:xfrm>
            <a:off x="2828544" y="1865376"/>
            <a:ext cx="1828800" cy="941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</a:t>
            </a:r>
            <a:r>
              <a:rPr lang="en-US" dirty="0" err="1">
                <a:solidFill>
                  <a:schemeClr val="tx1"/>
                </a:solidFill>
              </a:rPr>
              <a:t>Preprocessing</a:t>
            </a:r>
            <a:r>
              <a:rPr lang="en-US" dirty="0" err="1">
                <a:solidFill>
                  <a:schemeClr val="bg1"/>
                </a:solidFill>
              </a:rPr>
              <a:t>Da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CCC086-C57E-43A6-C337-3DF3DBF280F8}"/>
              </a:ext>
            </a:extLst>
          </p:cNvPr>
          <p:cNvSpPr/>
          <p:nvPr/>
        </p:nvSpPr>
        <p:spPr>
          <a:xfrm>
            <a:off x="4971288" y="1865376"/>
            <a:ext cx="1828800" cy="941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Feature Extraction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D32154-C808-CBFC-118D-4E50360CC1B9}"/>
              </a:ext>
            </a:extLst>
          </p:cNvPr>
          <p:cNvSpPr/>
          <p:nvPr/>
        </p:nvSpPr>
        <p:spPr>
          <a:xfrm>
            <a:off x="7114032" y="1865376"/>
            <a:ext cx="1828800" cy="941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Multimodel</a:t>
            </a:r>
            <a:r>
              <a:rPr lang="en-US" dirty="0">
                <a:solidFill>
                  <a:schemeClr val="tx1"/>
                </a:solidFill>
              </a:rPr>
              <a:t> Feature Fusion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9BFDD-AE7B-26D5-0E5F-58C794D93E19}"/>
              </a:ext>
            </a:extLst>
          </p:cNvPr>
          <p:cNvSpPr/>
          <p:nvPr/>
        </p:nvSpPr>
        <p:spPr>
          <a:xfrm>
            <a:off x="685800" y="3776472"/>
            <a:ext cx="1828800" cy="941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SHAP Explainable AI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D83AB1-2297-F9FE-EA11-9BD544C4ED3C}"/>
              </a:ext>
            </a:extLst>
          </p:cNvPr>
          <p:cNvSpPr/>
          <p:nvPr/>
        </p:nvSpPr>
        <p:spPr>
          <a:xfrm>
            <a:off x="2828544" y="3776472"/>
            <a:ext cx="1828800" cy="941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Severity Prediction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(Healthy, Mild, Moderate, Severe)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3E8438-279A-0964-1DA2-461F59E1557B}"/>
              </a:ext>
            </a:extLst>
          </p:cNvPr>
          <p:cNvSpPr/>
          <p:nvPr/>
        </p:nvSpPr>
        <p:spPr>
          <a:xfrm>
            <a:off x="4971288" y="3776472"/>
            <a:ext cx="1828800" cy="941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XGBoost</a:t>
            </a:r>
            <a:r>
              <a:rPr lang="en-US" dirty="0">
                <a:solidFill>
                  <a:schemeClr val="tx1"/>
                </a:solidFill>
              </a:rPr>
              <a:t> Classification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DAB74E-6ECE-5772-3639-29076F698273}"/>
              </a:ext>
            </a:extLst>
          </p:cNvPr>
          <p:cNvSpPr/>
          <p:nvPr/>
        </p:nvSpPr>
        <p:spPr>
          <a:xfrm>
            <a:off x="7114032" y="3776472"/>
            <a:ext cx="1828800" cy="941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Feature Selection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323CB79-E647-F42B-C5D0-65860A092182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514600" y="2336292"/>
            <a:ext cx="313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F63EB5-922A-B96D-AD28-691E0E988DE9}"/>
              </a:ext>
            </a:extLst>
          </p:cNvPr>
          <p:cNvCxnSpPr/>
          <p:nvPr/>
        </p:nvCxnSpPr>
        <p:spPr>
          <a:xfrm>
            <a:off x="4657344" y="2336292"/>
            <a:ext cx="313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DE94AC-23BE-3574-2728-CD0F7DDD3C76}"/>
              </a:ext>
            </a:extLst>
          </p:cNvPr>
          <p:cNvCxnSpPr/>
          <p:nvPr/>
        </p:nvCxnSpPr>
        <p:spPr>
          <a:xfrm>
            <a:off x="6800088" y="2336292"/>
            <a:ext cx="313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7910C47-D247-6D88-CEC0-81F3A0D787BD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8028432" y="2807208"/>
            <a:ext cx="0" cy="969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81BAAB-2525-8A38-76EC-DE3D9805D712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6800088" y="4247388"/>
            <a:ext cx="313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D748A0D-FDAA-DCF6-248C-1FF52ADC0F12}"/>
              </a:ext>
            </a:extLst>
          </p:cNvPr>
          <p:cNvCxnSpPr>
            <a:cxnSpLocks/>
          </p:cNvCxnSpPr>
          <p:nvPr/>
        </p:nvCxnSpPr>
        <p:spPr>
          <a:xfrm flipH="1">
            <a:off x="4657344" y="4247388"/>
            <a:ext cx="313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3E0B814-C996-DA0F-D1A8-E7C5845ED114}"/>
              </a:ext>
            </a:extLst>
          </p:cNvPr>
          <p:cNvCxnSpPr>
            <a:cxnSpLocks/>
          </p:cNvCxnSpPr>
          <p:nvPr/>
        </p:nvCxnSpPr>
        <p:spPr>
          <a:xfrm flipH="1">
            <a:off x="2514600" y="3899916"/>
            <a:ext cx="313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1EB8ED1-0E31-F243-DE57-DFB95BCFAF60}"/>
              </a:ext>
            </a:extLst>
          </p:cNvPr>
          <p:cNvSpPr/>
          <p:nvPr/>
        </p:nvSpPr>
        <p:spPr>
          <a:xfrm>
            <a:off x="685800" y="5687567"/>
            <a:ext cx="1828800" cy="941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Final Diagnosis Report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4399A40-81EF-0B69-D2BF-31729393E584}"/>
              </a:ext>
            </a:extLst>
          </p:cNvPr>
          <p:cNvCxnSpPr>
            <a:cxnSpLocks/>
          </p:cNvCxnSpPr>
          <p:nvPr/>
        </p:nvCxnSpPr>
        <p:spPr>
          <a:xfrm>
            <a:off x="1588008" y="4718303"/>
            <a:ext cx="0" cy="969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7460D400-4ADF-B608-E6BD-075C84211DF7}"/>
              </a:ext>
            </a:extLst>
          </p:cNvPr>
          <p:cNvSpPr txBox="1"/>
          <p:nvPr/>
        </p:nvSpPr>
        <p:spPr>
          <a:xfrm>
            <a:off x="3220212" y="498955"/>
            <a:ext cx="3502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FLOW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414022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3DF36CA-AA3A-9BED-345F-CB2AABA8E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>
            <a:extLst>
              <a:ext uri="{FF2B5EF4-FFF2-40B4-BE49-F238E27FC236}">
                <a16:creationId xmlns:a16="http://schemas.microsoft.com/office/drawing/2014/main" id="{19C6B1D4-6C1A-17C4-15DC-48D86A2109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51560" y="144388"/>
            <a:ext cx="10881360" cy="87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PAPERS COMPARISION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D1D461-4161-02CB-3944-A2A9FD83A7C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8742560" y="6486144"/>
            <a:ext cx="1447800" cy="381000"/>
          </a:xfrm>
        </p:spPr>
        <p:txBody>
          <a:bodyPr/>
          <a:lstStyle/>
          <a:p>
            <a:r>
              <a:rPr lang="en-US" dirty="0"/>
              <a:t>6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FD8E5C-96C9-4277-4686-E49404F5E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090625"/>
              </p:ext>
            </p:extLst>
          </p:nvPr>
        </p:nvGraphicFramePr>
        <p:xfrm>
          <a:off x="1417320" y="1362457"/>
          <a:ext cx="7325240" cy="4343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2620">
                  <a:extLst>
                    <a:ext uri="{9D8B030D-6E8A-4147-A177-3AD203B41FA5}">
                      <a16:colId xmlns:a16="http://schemas.microsoft.com/office/drawing/2014/main" val="964841022"/>
                    </a:ext>
                  </a:extLst>
                </a:gridCol>
                <a:gridCol w="3662620">
                  <a:extLst>
                    <a:ext uri="{9D8B030D-6E8A-4147-A177-3AD203B41FA5}">
                      <a16:colId xmlns:a16="http://schemas.microsoft.com/office/drawing/2014/main" val="1770185113"/>
                    </a:ext>
                  </a:extLst>
                </a:gridCol>
              </a:tblGrid>
              <a:tr h="4107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BASE PAPER – 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BASE PAPER -2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156765"/>
                  </a:ext>
                </a:extLst>
              </a:tr>
              <a:tr h="2150008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IN" b="1" dirty="0"/>
                        <a:t>CONTRIBUTIONS: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Speech-based Parkinson's detection.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RFE feature selection.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SHAP explainability.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96.46% accuracy.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b="1" dirty="0"/>
                        <a:t>CONTRIBUTIONS: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Speech signal analysis.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SMOTE and PCA.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AdaBoost classifier.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96%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772215"/>
                  </a:ext>
                </a:extLst>
              </a:tr>
              <a:tr h="17826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b="1" dirty="0"/>
                        <a:t>LIMITATIONS:</a:t>
                      </a:r>
                      <a:endParaRPr lang="en-IN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Speech only.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Binary classification.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No severity prediction.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b="1" dirty="0"/>
                        <a:t>LIMITATIONS:</a:t>
                      </a:r>
                      <a:endParaRPr lang="en-IN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Speech only.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No explainability.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No severity assessment.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43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495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0A4E1-CCDB-8D11-DCE2-D4AE1D555253}"/>
              </a:ext>
            </a:extLst>
          </p:cNvPr>
          <p:cNvSpPr txBox="1"/>
          <p:nvPr/>
        </p:nvSpPr>
        <p:spPr>
          <a:xfrm>
            <a:off x="2109356" y="1828800"/>
            <a:ext cx="550718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B1BCC4-ADAA-10C1-F089-84B7D80E71B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8638032" y="6495288"/>
            <a:ext cx="1447800" cy="381000"/>
          </a:xfrm>
        </p:spPr>
        <p:txBody>
          <a:bodyPr/>
          <a:lstStyle/>
          <a:p>
            <a:r>
              <a:rPr lang="en-US" dirty="0"/>
              <a:t>18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588527"/>
      </p:ext>
    </p:extLst>
  </p:cSld>
  <p:clrMapOvr>
    <a:masterClrMapping/>
  </p:clrMapOvr>
</p:sld>
</file>

<file path=ppt/theme/theme1.xml><?xml version="1.0" encoding="utf-8"?>
<a:theme xmlns:a="http://schemas.openxmlformats.org/drawingml/2006/main" name="1_Flow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1709</TotalTime>
  <Words>328</Words>
  <Application>Microsoft Office PowerPoint</Application>
  <PresentationFormat>On-screen Show (4:3)</PresentationFormat>
  <Paragraphs>81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Noto Sans Symbols</vt:lpstr>
      <vt:lpstr>Times New Roman</vt:lpstr>
      <vt:lpstr>Wingdings</vt:lpstr>
      <vt:lpstr>1_Flow</vt:lpstr>
      <vt:lpstr>PowerPoint Presentation</vt:lpstr>
      <vt:lpstr>PROBLEM DEFINITION</vt:lpstr>
      <vt:lpstr>PROBLEM SIGINIFICANCE AND IMPACT</vt:lpstr>
      <vt:lpstr> PROPOSED SOLUTION</vt:lpstr>
      <vt:lpstr> FEASIBILITY ANALYSIS</vt:lpstr>
      <vt:lpstr>PowerPoint Presentation</vt:lpstr>
      <vt:lpstr>                              BASE PAPERS COMPARISION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SABARISH K S</dc:creator>
  <cp:lastModifiedBy>Redhani T V</cp:lastModifiedBy>
  <cp:revision>28</cp:revision>
  <dcterms:modified xsi:type="dcterms:W3CDTF">2026-06-24T16:55:42Z</dcterms:modified>
</cp:coreProperties>
</file>