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343" r:id="rId3"/>
    <p:sldId id="363" r:id="rId4"/>
    <p:sldId id="352" r:id="rId5"/>
    <p:sldId id="345" r:id="rId6"/>
    <p:sldId id="361" r:id="rId7"/>
    <p:sldId id="362" r:id="rId8"/>
    <p:sldId id="360" r:id="rId9"/>
    <p:sldId id="351" r:id="rId10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8" roundtripDataSignature="AMtx7mjO0fsVscgIGoCaqTlxEt9hSblC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DB3"/>
    <a:srgbClr val="285D88"/>
    <a:srgbClr val="86C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01BEC2-0D41-430F-BF53-BEBB1D9F8904}" v="1" dt="2026-06-24T14:28:20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47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601240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3368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5EA49C5-52B5-CD45-607E-470D2D7BC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EB3CB04E-F4AF-D76E-A236-03214AC0F4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2E87FA7B-99DF-6E89-6849-77A5AD1AA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247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D5C515C-DA14-7D70-E40A-6530E507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48380B16-9BCF-27DE-CEB1-F8ECDC6EC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D3DA7759-D444-F0A5-E73C-43FD89F075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715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0A54BF7-5F96-20B0-9226-BD98E2501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1051D1A9-0418-DA21-E15D-645D1822A4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95C74605-730D-4F11-C0E8-562E3AEA53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4258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865B66B-9713-4C32-D985-A9421324B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E7919037-DA05-4612-DE79-ACAF103C0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AD49DDDE-603F-CED4-808D-591A53A646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78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652884C1-EAFF-830F-DBCD-100BDBB5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>
            <a:extLst>
              <a:ext uri="{FF2B5EF4-FFF2-40B4-BE49-F238E27FC236}">
                <a16:creationId xmlns:a16="http://schemas.microsoft.com/office/drawing/2014/main" id="{96F79C7E-D286-27AA-727F-AC84658FE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>
            <a:extLst>
              <a:ext uri="{FF2B5EF4-FFF2-40B4-BE49-F238E27FC236}">
                <a16:creationId xmlns:a16="http://schemas.microsoft.com/office/drawing/2014/main" id="{EB5DCFB4-2FDF-3324-EE39-C03AE079A1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5453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ae6ea673ec_0_4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/>
              <a:buNone/>
              <a:defRPr sz="56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gae6ea673ec_0_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gae6ea673ec_0_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ae6ea673ec_0_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ae6ea673ec_0_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ae6ea673ec_0_9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gae6ea673ec_0_9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gae6ea673ec_0_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ae6ea673ec_0_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ae6ea673ec_0_19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ae6ea673ec_0_19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gae6ea673ec_0_1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ae6ea673ec_0_2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4" name="Google Shape;34;gae6ea673ec_0_23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gae6ea673ec_0_23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900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gae6ea673ec_0_23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gae6ea673ec_0_23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900" cy="38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gae6ea673ec_0_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ae6ea673ec_0_23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ae6ea673ec_0_38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gae6ea673ec_0_38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gae6ea673ec_0_38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ae6ea673ec_0_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ae6ea673ec_0_38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ae6ea673ec_0_44"/>
          <p:cNvSpPr/>
          <p:nvPr/>
        </p:nvSpPr>
        <p:spPr>
          <a:xfrm rot="-10379968" flipH="1">
            <a:off x="3165539" y="1108014"/>
            <a:ext cx="5257696" cy="4114887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1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ae6ea673ec_0_44"/>
          <p:cNvSpPr/>
          <p:nvPr/>
        </p:nvSpPr>
        <p:spPr>
          <a:xfrm rot="-10381539" flipH="1">
            <a:off x="8004149" y="5359289"/>
            <a:ext cx="155652" cy="155652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ae6ea673ec_0_44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ae6ea673ec_0_44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ae6ea673ec_0_44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00" cy="15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ae6ea673ec_0_44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gae6ea673ec_0_44"/>
          <p:cNvSpPr>
            <a:spLocks noGrp="1"/>
          </p:cNvSpPr>
          <p:nvPr>
            <p:ph type="pic" idx="2"/>
          </p:nvPr>
        </p:nvSpPr>
        <p:spPr>
          <a:xfrm rot="420022">
            <a:off x="3485831" y="1199543"/>
            <a:ext cx="4617824" cy="3931997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gae6ea673ec_0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ae6ea673ec_0_4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ae6ea673ec_0_5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ae6ea673ec_0_54"/>
          <p:cNvSpPr txBox="1">
            <a:spLocks noGrp="1"/>
          </p:cNvSpPr>
          <p:nvPr>
            <p:ph type="body" idx="1"/>
          </p:nvPr>
        </p:nvSpPr>
        <p:spPr>
          <a:xfrm rot="5400000">
            <a:off x="2377350" y="15013"/>
            <a:ext cx="43893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gae6ea673ec_0_5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ae6ea673ec_0_5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ae6ea673ec_0_59"/>
          <p:cNvSpPr txBox="1">
            <a:spLocks noGrp="1"/>
          </p:cNvSpPr>
          <p:nvPr>
            <p:ph type="title"/>
          </p:nvPr>
        </p:nvSpPr>
        <p:spPr>
          <a:xfrm rot="5400000">
            <a:off x="5052150" y="2491651"/>
            <a:ext cx="52119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ae6ea673ec_0_59"/>
          <p:cNvSpPr txBox="1">
            <a:spLocks noGrp="1"/>
          </p:cNvSpPr>
          <p:nvPr>
            <p:ph type="body" idx="1"/>
          </p:nvPr>
        </p:nvSpPr>
        <p:spPr>
          <a:xfrm rot="5400000">
            <a:off x="861150" y="510451"/>
            <a:ext cx="52119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ae6ea673ec_0_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ae6ea673ec_0_59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ae6ea673ec_0_64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gae6ea673ec_0_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ae6ea673ec_0_64"/>
          <p:cNvSpPr txBox="1">
            <a:spLocks noGrp="1"/>
          </p:cNvSpPr>
          <p:nvPr>
            <p:ph type="ft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ae6ea673ec_0_0"/>
          <p:cNvSpPr txBox="1"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gae6ea673ec_0_0"/>
          <p:cNvSpPr txBox="1">
            <a:spLocks noGrp="1"/>
          </p:cNvSpPr>
          <p:nvPr>
            <p:ph type="body" idx="1"/>
          </p:nvPr>
        </p:nvSpPr>
        <p:spPr>
          <a:xfrm>
            <a:off x="457200" y="1935163"/>
            <a:ext cx="8229600" cy="43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ae6ea673ec_0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971" y="13267"/>
            <a:ext cx="8444525" cy="13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0695" y="6040503"/>
            <a:ext cx="1428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732137" y="1738435"/>
            <a:ext cx="7986000" cy="6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US" sz="2800" b="1" dirty="0">
                <a:solidFill>
                  <a:srgbClr val="FF0000"/>
                </a:solidFill>
              </a:rPr>
              <a:t>22CSP72 – PROJECT WORK II PHASE I</a:t>
            </a:r>
            <a:endParaRPr sz="2800" dirty="0"/>
          </a:p>
        </p:txBody>
      </p:sp>
      <p:sp>
        <p:nvSpPr>
          <p:cNvPr id="2" name="Google Shape;91;p1">
            <a:extLst>
              <a:ext uri="{FF2B5EF4-FFF2-40B4-BE49-F238E27FC236}">
                <a16:creationId xmlns:a16="http://schemas.microsoft.com/office/drawing/2014/main" id="{CA920FF5-84A3-D21C-3594-613A0A86852A}"/>
              </a:ext>
            </a:extLst>
          </p:cNvPr>
          <p:cNvSpPr txBox="1"/>
          <p:nvPr/>
        </p:nvSpPr>
        <p:spPr>
          <a:xfrm>
            <a:off x="1324947" y="2674600"/>
            <a:ext cx="7072604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en-IN" sz="1800" b="1" dirty="0"/>
              <a:t>EXPLAINABLE MULTIMODAL PARKINSON’S DISEASE DETECTION AND SEVERITY PREDICTION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768FC-97D5-5421-58A1-35BC1107F6A5}"/>
              </a:ext>
            </a:extLst>
          </p:cNvPr>
          <p:cNvSpPr txBox="1"/>
          <p:nvPr/>
        </p:nvSpPr>
        <p:spPr>
          <a:xfrm>
            <a:off x="905070" y="4286177"/>
            <a:ext cx="38068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DONE BY,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23CSR149 NITHEESH 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23CSR174 REDHANI T V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23CSR184 SABARISH K 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8C992-19B2-6D63-7DC0-A2A6DE92A61C}"/>
              </a:ext>
            </a:extLst>
          </p:cNvPr>
          <p:cNvSpPr txBox="1"/>
          <p:nvPr/>
        </p:nvSpPr>
        <p:spPr>
          <a:xfrm>
            <a:off x="6245290" y="4761722"/>
            <a:ext cx="2814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SUPERVISED BY,</a:t>
            </a:r>
          </a:p>
          <a:p>
            <a:pPr>
              <a:lnSpc>
                <a:spcPct val="150000"/>
              </a:lnSpc>
            </a:pPr>
            <a:r>
              <a:rPr lang="en-US" sz="1800" dirty="0" err="1"/>
              <a:t>Ms.NANTHIYA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F19A232A-4F76-E247-BE7A-907643E68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B9CF70-0D9A-4CE9-AD66-81529966C02A}"/>
              </a:ext>
            </a:extLst>
          </p:cNvPr>
          <p:cNvSpPr txBox="1"/>
          <p:nvPr/>
        </p:nvSpPr>
        <p:spPr>
          <a:xfrm>
            <a:off x="149911" y="744813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9E6F7-0BD0-3E73-B2BA-B362DBC1D785}"/>
              </a:ext>
            </a:extLst>
          </p:cNvPr>
          <p:cNvSpPr txBox="1"/>
          <p:nvPr/>
        </p:nvSpPr>
        <p:spPr>
          <a:xfrm>
            <a:off x="1164874" y="1259243"/>
            <a:ext cx="7292184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Parkinson's Disease (PD) is a progressive neurological disorder affecting movement, speech and daily activities.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Current diagnosis mainly depends on clinical examination and specialist experience.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Disease severity changes over time and requires continuous monitoring.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Existing prediction models mainly detect Parkinson's disease but do not accurately predict severity levels.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There is a need for an accurate, explainable and automated severity prediction system.</a:t>
            </a:r>
            <a:br>
              <a:rPr lang="en-IN" dirty="0"/>
            </a:br>
            <a:br>
              <a:rPr lang="en-IN" dirty="0"/>
            </a:b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EA98BE-A002-B319-7A9C-AD4A89EB3CDA}"/>
              </a:ext>
            </a:extLst>
          </p:cNvPr>
          <p:cNvSpPr txBox="1"/>
          <p:nvPr/>
        </p:nvSpPr>
        <p:spPr>
          <a:xfrm>
            <a:off x="865809" y="3867214"/>
            <a:ext cx="5536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20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OBJECTIVES</a:t>
            </a: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07069F3E-5069-F03F-A939-A6A3F1C9DDFA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1736A3-272E-3785-C1B4-194C643E2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874" y="4396589"/>
            <a:ext cx="7772401" cy="1991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Predict Parkinson's disease severity using voice-based clinical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Select the most important features using </a:t>
            </a:r>
            <a:r>
              <a:rPr lang="en-IN" dirty="0" err="1"/>
              <a:t>Praat</a:t>
            </a:r>
            <a:r>
              <a:rPr lang="en-IN" dirty="0"/>
              <a:t> Feature Importance.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Train an </a:t>
            </a:r>
            <a:r>
              <a:rPr lang="en-IN" dirty="0" err="1"/>
              <a:t>XGBoost</a:t>
            </a:r>
            <a:r>
              <a:rPr lang="en-IN" dirty="0"/>
              <a:t> model for severity prediction.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 prediction accuracy while reducing unnecessary features.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 SHAP Explainable AI to explain the prediction made by the model.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Generate an interpretable severity prediction system for clinicians.</a:t>
            </a:r>
          </a:p>
        </p:txBody>
      </p:sp>
    </p:spTree>
    <p:extLst>
      <p:ext uri="{BB962C8B-B14F-4D97-AF65-F5344CB8AC3E}">
        <p14:creationId xmlns:p14="http://schemas.microsoft.com/office/powerpoint/2010/main" val="3991400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436081" y="393888"/>
            <a:ext cx="2717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677699"/>
              </p:ext>
            </p:extLst>
          </p:nvPr>
        </p:nvGraphicFramePr>
        <p:xfrm>
          <a:off x="862640" y="1077824"/>
          <a:ext cx="7988061" cy="486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9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73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5602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Paper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Summary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/>
                        <a:t>Research Gap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520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Ensemble Machine Learning Approach for Parkinson's Disease Detection Using Speech Signals (Mathematics, 2024)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IN" sz="1200" dirty="0"/>
                        <a:t>Uses speech features with AdaBoost. Applies PCA and SMOTE. Achieves 96% accuracy in Parkinson detection.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Detects only Parkinson's disease, not severity. No clinical severity prediction. Uses AdaBoost instead of </a:t>
                      </a:r>
                      <a:r>
                        <a:rPr lang="en-IN" sz="1200" dirty="0" err="1"/>
                        <a:t>XGBoost</a:t>
                      </a:r>
                      <a:r>
                        <a:rPr lang="en-IN" sz="1200" dirty="0"/>
                        <a:t>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861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Early Detection of Parkinson's Disease Using Machine Learning (Procedia Computer Science, 2023)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Compares Random Forest, SVM, Logistic Regression and KNN using voice features. Random Forest achieved 91.83% accuracy.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Focuses only on disease detection. Does not estimate UPDRS severity or provide explainability.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5202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Interpretable Machine Learning Framework for Parkinson's Disease Prediction (PLOS ONE, 2025)</a:t>
                      </a:r>
                      <a:endParaRPr lang="en-IN" sz="1200" b="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/>
                        <a:t>Uses SMOTE, feature engineering and SHAP explainability. Compares multiple ML algorithms.</a:t>
                      </a:r>
                      <a:endParaRPr lang="en-IN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IN" sz="1200" dirty="0"/>
                        <a:t>Predicts disease presence only. Does not perform severity prediction using Motor UPDRS or Total UPDRS regression/classification.</a:t>
                      </a:r>
                      <a:endParaRPr lang="en-IN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49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68619D78-FEF4-4449-2820-CA02B0FCB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F2AEB1-7170-6C3C-A575-749A72E74931}"/>
              </a:ext>
            </a:extLst>
          </p:cNvPr>
          <p:cNvSpPr txBox="1"/>
          <p:nvPr/>
        </p:nvSpPr>
        <p:spPr>
          <a:xfrm>
            <a:off x="2383790" y="104594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8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IDENTIFIED</a:t>
            </a:r>
            <a:endParaRPr lang="en-IN" sz="1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86;p1">
            <a:extLst>
              <a:ext uri="{FF2B5EF4-FFF2-40B4-BE49-F238E27FC236}">
                <a16:creationId xmlns:a16="http://schemas.microsoft.com/office/drawing/2014/main" id="{37D041D5-E99C-0198-50EE-3086F8A4A046}"/>
              </a:ext>
            </a:extLst>
          </p:cNvPr>
          <p:cNvSpPr txBox="1"/>
          <p:nvPr/>
        </p:nvSpPr>
        <p:spPr>
          <a:xfrm>
            <a:off x="6955790" y="641731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fld id="{00000000-1234-1234-1234-123412341234}" type="slidenum">
              <a:rPr lang="en-US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447825" y="1656272"/>
            <a:ext cx="7565365" cy="3903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After reviewing previous studies, the following gaps were identified: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Most research focuses only on Parkinson's disease detection.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Very few models predict disease severity.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Many models use all available features, increasing computational cost.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Limited use of feature selection techniques for severity prediction.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Explainable AI is missing in many existing methods.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Most studies classify Parkinson's patients but do not estimate clinical severity levels like UPDRS.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Need for an accurate, lightweight and explainable severity prediction framework.</a:t>
            </a:r>
          </a:p>
        </p:txBody>
      </p:sp>
    </p:spTree>
    <p:extLst>
      <p:ext uri="{BB962C8B-B14F-4D97-AF65-F5344CB8AC3E}">
        <p14:creationId xmlns:p14="http://schemas.microsoft.com/office/powerpoint/2010/main" val="2912985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A51E19D-0FA0-4C5B-45AF-D2EB92226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4657" y="575044"/>
            <a:ext cx="3281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8169D7-07BA-1413-B24F-FF6D07E89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657" y="1100828"/>
            <a:ext cx="3653881" cy="548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990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998563" y="730320"/>
            <a:ext cx="5724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 WITH PLANNED INNOVATION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54014" y="1431877"/>
            <a:ext cx="8126084" cy="4057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</a:t>
            </a:r>
          </a:p>
          <a:p>
            <a:pPr>
              <a:lnSpc>
                <a:spcPct val="150000"/>
              </a:lnSpc>
            </a:pPr>
            <a:r>
              <a:rPr lang="en-US" dirty="0"/>
              <a:t>	</a:t>
            </a:r>
            <a:r>
              <a:rPr lang="en-IN" dirty="0"/>
              <a:t>The proposed system predicts Parkinson's disease severity using machine learning and explainable AI.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1 – </a:t>
            </a:r>
            <a:r>
              <a:rPr lang="en-IN" dirty="0"/>
              <a:t>Collect the Parkinson's Telemonitoring Dataset.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2 - </a:t>
            </a:r>
            <a:r>
              <a:rPr lang="en-IN" dirty="0"/>
              <a:t>Perform preprocessing by handling missing values, removing duplicates.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3 - </a:t>
            </a:r>
            <a:r>
              <a:rPr lang="en-IN" dirty="0"/>
              <a:t>Select the most important clinical voice features </a:t>
            </a:r>
            <a:r>
              <a:rPr lang="en-IN" dirty="0" err="1"/>
              <a:t>Praat</a:t>
            </a:r>
            <a:r>
              <a:rPr lang="en-IN" dirty="0"/>
              <a:t> Feature Selection</a:t>
            </a:r>
            <a:r>
              <a:rPr lang="en-US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4 - </a:t>
            </a:r>
            <a:r>
              <a:rPr lang="en-IN" dirty="0"/>
              <a:t>Train the </a:t>
            </a:r>
            <a:r>
              <a:rPr lang="en-IN" dirty="0" err="1"/>
              <a:t>XGBoost</a:t>
            </a:r>
            <a:r>
              <a:rPr lang="en-IN" dirty="0"/>
              <a:t> model using selected features.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5 - </a:t>
            </a:r>
            <a:r>
              <a:rPr lang="en-IN" dirty="0"/>
              <a:t>Predict disease severity based on Motor UPDRS or Total UPDRS score.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6 - </a:t>
            </a:r>
            <a:r>
              <a:rPr lang="en-IN" dirty="0"/>
              <a:t>Use SHAP Explainable AI to identify which features contributed most to the prediction.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Step 7 - </a:t>
            </a:r>
            <a:r>
              <a:rPr lang="en-IN" dirty="0"/>
              <a:t>Generate AI Decision Support 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614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04977" y="1863857"/>
            <a:ext cx="7134045" cy="3472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Our project introduces several improvements over existing work.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Predicts Parkinson's severity instead of only detecting disease.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dirty="0" err="1"/>
              <a:t>XGBoost</a:t>
            </a:r>
            <a:r>
              <a:rPr lang="en-US" dirty="0"/>
              <a:t> Feature Importance with Recursive Feature Elimination.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Reduces redundant clinical features.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SHAP Explainable AI for transparent clinical decision support.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Faster prediction with improved accuracy.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Helps doctors monitor disease progression remotely.</a:t>
            </a:r>
          </a:p>
          <a:p>
            <a:pPr marL="285750" lvl="2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Can be integrated into telemedicine systems for continuous patient monitoring.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5495" y="1370826"/>
            <a:ext cx="2577950" cy="4174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INNOVATION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7116" y="2492188"/>
            <a:ext cx="1836555" cy="2031267"/>
          </a:xfrm>
          <a:prstGeom prst="round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9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725" y="3543839"/>
            <a:ext cx="1311735" cy="7855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675" y="2778160"/>
            <a:ext cx="1403828" cy="47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57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5CDF5C86-F2FD-ED47-A53C-370B8DDC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67046" y="764826"/>
            <a:ext cx="3409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OF THE PROJECT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59309" y="1544605"/>
            <a:ext cx="5002306" cy="376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Dataset Collection Module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Data Preprocessing Module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Feature Selection Module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Severity Prediction Module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Model Evaluation Module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Explainable AI Module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Result Visualization Module</a:t>
            </a:r>
          </a:p>
        </p:txBody>
      </p:sp>
    </p:spTree>
    <p:extLst>
      <p:ext uri="{BB962C8B-B14F-4D97-AF65-F5344CB8AC3E}">
        <p14:creationId xmlns:p14="http://schemas.microsoft.com/office/powerpoint/2010/main" val="3166778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CC733D17-BE26-4C23-A9FB-5030EA50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8D3694-33C1-FF16-DAD7-ACA0770939EF}"/>
              </a:ext>
            </a:extLst>
          </p:cNvPr>
          <p:cNvSpPr txBox="1"/>
          <p:nvPr/>
        </p:nvSpPr>
        <p:spPr>
          <a:xfrm>
            <a:off x="2789853" y="3004457"/>
            <a:ext cx="45440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THANK YOU!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754633741"/>
      </p:ext>
    </p:extLst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20717</TotalTime>
  <Words>625</Words>
  <Application>Microsoft Office PowerPoint</Application>
  <PresentationFormat>On-screen Show (4:3)</PresentationFormat>
  <Paragraphs>75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Noto Sans Symbols</vt:lpstr>
      <vt:lpstr>Times New Roman</vt:lpstr>
      <vt:lpstr>Wingdings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Bob Hughes</dc:creator>
  <cp:lastModifiedBy>Redhani T V</cp:lastModifiedBy>
  <cp:revision>227</cp:revision>
  <dcterms:created xsi:type="dcterms:W3CDTF">2005-07-08T09:37:10Z</dcterms:created>
  <dcterms:modified xsi:type="dcterms:W3CDTF">2026-07-19T16:46:00Z</dcterms:modified>
</cp:coreProperties>
</file>